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</p:sldIdLst>
  <p:sldSz cx="14630400" cy="8229600"/>
  <p:notesSz cx="8229600" cy="14630400"/>
  <p:embeddedFontLs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Lora" pitchFamily="2" charset="0"/>
      <p:regular r:id="rId19"/>
      <p:bold r:id="rId20"/>
      <p:italic r:id="rId21"/>
      <p:boldItalic r:id="rId22"/>
    </p:embeddedFont>
    <p:embeddedFont>
      <p:font typeface="Source Sans 3" panose="020B0604020202020204" charset="0"/>
      <p:regular r:id="rId23"/>
    </p:embeddedFont>
    <p:embeddedFont>
      <p:font typeface="Wingdings 3" panose="05040102010807070707" pitchFamily="18" charset="2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508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2519679"/>
            <a:ext cx="10590790" cy="3213178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2190781" y="2150669"/>
            <a:ext cx="1188719" cy="3657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AD6EE87-EBD5-4F12-A48A-63ACA297AC8F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10742372" y="3873399"/>
            <a:ext cx="4631754" cy="36576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423049" y="354876"/>
            <a:ext cx="1005839" cy="921224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63974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945" y="3124200"/>
            <a:ext cx="10590791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8678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213174"/>
            <a:ext cx="5221230" cy="2740589"/>
          </a:xfrm>
        </p:spPr>
        <p:txBody>
          <a:bodyPr anchor="ctr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671" y="3213173"/>
            <a:ext cx="4509054" cy="2740589"/>
          </a:xfrm>
        </p:spPr>
        <p:txBody>
          <a:bodyPr anchor="ctr"/>
          <a:lstStyle>
            <a:lvl1pPr marL="0" indent="0" algn="l">
              <a:buNone/>
              <a:defRPr sz="24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0212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5945" y="3124201"/>
            <a:ext cx="5790190" cy="409956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50455" y="3124200"/>
            <a:ext cx="5790191" cy="40995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9145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3124200"/>
            <a:ext cx="579018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945" y="3815715"/>
            <a:ext cx="5790190" cy="3408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50455" y="3124200"/>
            <a:ext cx="579019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50455" y="3815715"/>
            <a:ext cx="5790191" cy="3408047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1491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321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661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1554480"/>
            <a:ext cx="3351790" cy="192024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7375" y="1737360"/>
            <a:ext cx="6228079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3755137"/>
            <a:ext cx="3351790" cy="3474719"/>
          </a:xfrm>
        </p:spPr>
        <p:txBody>
          <a:bodyPr/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213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2032000"/>
            <a:ext cx="4638161" cy="208280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57444" y="1371600"/>
            <a:ext cx="3872632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4389120"/>
            <a:ext cx="4631054" cy="1645920"/>
          </a:xfrm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48059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5963912"/>
            <a:ext cx="10590791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5" y="822960"/>
            <a:ext cx="10590791" cy="4114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6643998"/>
            <a:ext cx="10590790" cy="592454"/>
          </a:xfrm>
        </p:spPr>
        <p:txBody>
          <a:bodyPr>
            <a:normAutofit/>
          </a:bodyPr>
          <a:lstStyle>
            <a:lvl1pPr marL="0" indent="0">
              <a:buNone/>
              <a:defRPr sz="144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5382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8558" y="1276101"/>
            <a:ext cx="10598179" cy="164758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251960"/>
            <a:ext cx="10590791" cy="297180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719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1057879" y="728803"/>
            <a:ext cx="962294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11861350" y="3136545"/>
            <a:ext cx="783316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8254" y="1178561"/>
            <a:ext cx="10144687" cy="3235958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2335135" y="4414519"/>
            <a:ext cx="9277463" cy="41060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6" y="6035040"/>
            <a:ext cx="11093876" cy="1197428"/>
          </a:xfrm>
        </p:spPr>
        <p:txBody>
          <a:bodyPr anchor="ctr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03367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2844800"/>
            <a:ext cx="10590792" cy="218701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6029960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315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3"/>
            <a:ext cx="377025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85944" y="3815717"/>
            <a:ext cx="3770255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266" y="3124200"/>
            <a:ext cx="377641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415266" y="3815716"/>
            <a:ext cx="3776411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65762" y="3124201"/>
            <a:ext cx="377487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9465995" y="3815715"/>
            <a:ext cx="3774643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284765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326881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83868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439413"/>
            <a:ext cx="366052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601464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85945" y="6130927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2638" y="5439413"/>
            <a:ext cx="3660526" cy="691516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698155" y="3124200"/>
            <a:ext cx="3229492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484206" y="6130926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79331" y="5439414"/>
            <a:ext cx="366131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795637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79330" y="6130925"/>
            <a:ext cx="3661315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5286997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9357362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73333" y="7670206"/>
            <a:ext cx="4373138" cy="36576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7637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3124200"/>
            <a:ext cx="10590791" cy="409956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834527" y="7670206"/>
            <a:ext cx="1188719" cy="365759"/>
          </a:xfrm>
        </p:spPr>
        <p:txBody>
          <a:bodyPr/>
          <a:lstStyle/>
          <a:p>
            <a:fld id="{4CD73815-2707-4475-8F1A-B873CB631BB4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18414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2283" y="1534160"/>
            <a:ext cx="1691958" cy="5698308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1534160"/>
            <a:ext cx="7507230" cy="56983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783725" y="7670206"/>
            <a:ext cx="1190562" cy="365759"/>
          </a:xfrm>
        </p:spPr>
        <p:txBody>
          <a:bodyPr/>
          <a:lstStyle/>
          <a:p>
            <a:fld id="{2A4AFB99-0EAB-4182-AFF8-E214C82A68F6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1006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069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7434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991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3352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396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8994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16297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0487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2739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36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385945" y="1168402"/>
            <a:ext cx="10513696" cy="8483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0"/>
            <a:ext cx="10513696" cy="4099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83725" y="7670206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accent1"/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3333" y="7670206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bg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28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80923" y="327362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Profit &amp; Investment Efficiency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3580923" y="5318284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comprehensive analysis of profit performance, investment allocation, and ROI efficiency across key markets.</a:t>
            </a:r>
            <a:endParaRPr lang="en-US" sz="18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F9BB3-623D-C225-D123-BB38BFD9A5C7}"/>
              </a:ext>
            </a:extLst>
          </p:cNvPr>
          <p:cNvSpPr txBox="1"/>
          <p:nvPr/>
        </p:nvSpPr>
        <p:spPr>
          <a:xfrm>
            <a:off x="3580922" y="7209177"/>
            <a:ext cx="6720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Name: 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Dhanraj Beldar</a:t>
            </a:r>
          </a:p>
          <a:p>
            <a:r>
              <a:rPr lang="en-US" dirty="0"/>
              <a:t>Project id: PTID-CDA-JAN-26-1198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6294" y="1187291"/>
            <a:ext cx="6559034" cy="694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chemeClr val="bg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Performance Metrics</a:t>
            </a:r>
            <a:endParaRPr lang="en-US" sz="435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6294" y="3515201"/>
            <a:ext cx="3023116" cy="779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6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$5.6M</a:t>
            </a:r>
            <a:endParaRPr lang="en-US" sz="6100" dirty="0"/>
          </a:p>
        </p:txBody>
      </p:sp>
      <p:sp>
        <p:nvSpPr>
          <p:cNvPr id="6" name="Text 4"/>
          <p:cNvSpPr/>
          <p:nvPr/>
        </p:nvSpPr>
        <p:spPr>
          <a:xfrm>
            <a:off x="851000" y="4384061"/>
            <a:ext cx="2777609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Profit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03540" y="4801970"/>
            <a:ext cx="3023116" cy="75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Aggregate profit across all states and operations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105811" y="3599586"/>
            <a:ext cx="3023235" cy="779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6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$112K</a:t>
            </a:r>
            <a:endParaRPr lang="en-US" sz="6100" dirty="0"/>
          </a:p>
        </p:txBody>
      </p:sp>
      <p:sp>
        <p:nvSpPr>
          <p:cNvPr id="9" name="Text 7"/>
          <p:cNvSpPr/>
          <p:nvPr/>
        </p:nvSpPr>
        <p:spPr>
          <a:xfrm>
            <a:off x="4144446" y="4384061"/>
            <a:ext cx="2777609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Average Profit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4021574" y="4801969"/>
            <a:ext cx="3023235" cy="75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Mean profit per transaction or unit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501235" y="3608130"/>
            <a:ext cx="3023116" cy="779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6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$192K</a:t>
            </a:r>
            <a:endParaRPr lang="en-US" sz="6100" dirty="0"/>
          </a:p>
        </p:txBody>
      </p:sp>
      <p:sp>
        <p:nvSpPr>
          <p:cNvPr id="12" name="Text 10"/>
          <p:cNvSpPr/>
          <p:nvPr/>
        </p:nvSpPr>
        <p:spPr>
          <a:xfrm>
            <a:off x="7585472" y="4387156"/>
            <a:ext cx="2777609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Maximum Profit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462718" y="4830834"/>
            <a:ext cx="3023116" cy="75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Peak profit achievement recorded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1001672" y="3515201"/>
            <a:ext cx="3023235" cy="779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6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$20.3M</a:t>
            </a:r>
            <a:endParaRPr lang="en-US" sz="6100" dirty="0"/>
          </a:p>
        </p:txBody>
      </p:sp>
      <p:sp>
        <p:nvSpPr>
          <p:cNvPr id="15" name="Text 13"/>
          <p:cNvSpPr/>
          <p:nvPr/>
        </p:nvSpPr>
        <p:spPr>
          <a:xfrm>
            <a:off x="11001791" y="4387156"/>
            <a:ext cx="2777609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Investment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10903625" y="4827858"/>
            <a:ext cx="3023235" cy="75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Combined capital deployed across markets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5656004" y="5924725"/>
            <a:ext cx="3023116" cy="779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6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27.58%</a:t>
            </a:r>
            <a:endParaRPr lang="en-US" sz="6100" dirty="0"/>
          </a:p>
        </p:txBody>
      </p:sp>
      <p:sp>
        <p:nvSpPr>
          <p:cNvPr id="18" name="Text 16"/>
          <p:cNvSpPr/>
          <p:nvPr/>
        </p:nvSpPr>
        <p:spPr>
          <a:xfrm>
            <a:off x="5656004" y="6720421"/>
            <a:ext cx="2777609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ROI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5533251" y="7042309"/>
            <a:ext cx="3023116" cy="75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 on investment percentage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817126" y="1189434"/>
            <a:ext cx="5493901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chemeClr val="bg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State Market Analysis</a:t>
            </a:r>
            <a:endParaRPr lang="en-US" sz="4300" dirty="0">
              <a:solidFill>
                <a:schemeClr val="bg2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3444579" y="2990769"/>
            <a:ext cx="7569756" cy="74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analysis focuses on three key markets driving business performance and investment returns.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9584" y="4087695"/>
            <a:ext cx="233482" cy="23348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06896" y="4409522"/>
            <a:ext cx="3668078" cy="3048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9" name="Text 5"/>
          <p:cNvSpPr/>
          <p:nvPr/>
        </p:nvSpPr>
        <p:spPr>
          <a:xfrm>
            <a:off x="3437078" y="4829693"/>
            <a:ext cx="2746891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California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3444579" y="5306419"/>
            <a:ext cx="3668078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West Coast market leader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1324" y="4111479"/>
            <a:ext cx="233482" cy="23348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346138" y="4418690"/>
            <a:ext cx="3668197" cy="3048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3" name="Text 8"/>
          <p:cNvSpPr/>
          <p:nvPr/>
        </p:nvSpPr>
        <p:spPr>
          <a:xfrm>
            <a:off x="7320302" y="4829693"/>
            <a:ext cx="2746891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Florida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7274582" y="5265402"/>
            <a:ext cx="3668197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Southeast growth region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3327779" y="5933997"/>
            <a:ext cx="7569756" cy="3048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7" name="Text 11"/>
          <p:cNvSpPr/>
          <p:nvPr/>
        </p:nvSpPr>
        <p:spPr>
          <a:xfrm>
            <a:off x="3479584" y="6270111"/>
            <a:ext cx="2746891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 York</a:t>
            </a:r>
            <a:endParaRPr lang="en-US" sz="2150" dirty="0"/>
          </a:p>
        </p:txBody>
      </p:sp>
      <p:sp>
        <p:nvSpPr>
          <p:cNvPr id="18" name="Text 12"/>
          <p:cNvSpPr/>
          <p:nvPr/>
        </p:nvSpPr>
        <p:spPr>
          <a:xfrm>
            <a:off x="3444579" y="6748027"/>
            <a:ext cx="7569756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Northeast financial hub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3693" y="1297658"/>
            <a:ext cx="4440793" cy="436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solidFill>
                  <a:schemeClr val="bg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Investment Breakdown by State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000125" y="1678438"/>
            <a:ext cx="7125057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Marketing spend has the strongest association with profit across states.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3752612" y="8505944"/>
            <a:ext cx="7125057" cy="1416368"/>
          </a:xfrm>
          <a:prstGeom prst="roundRect">
            <a:avLst>
              <a:gd name="adj" fmla="val 126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760232" y="8513564"/>
            <a:ext cx="7109817" cy="35028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880247" y="8592979"/>
            <a:ext cx="153423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1422" y="8592979"/>
            <a:ext cx="153042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Administration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438787" y="8592979"/>
            <a:ext cx="153042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216152" y="8592979"/>
            <a:ext cx="153423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R&amp;D Spend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760232" y="8863846"/>
            <a:ext cx="7109817" cy="35028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880247" y="8943261"/>
            <a:ext cx="153423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York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661422" y="8943261"/>
            <a:ext cx="153042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~$2.1M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438787" y="8943261"/>
            <a:ext cx="153042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~$2.8M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216152" y="8943261"/>
            <a:ext cx="153423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~$1.5M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60232" y="9214128"/>
            <a:ext cx="7109817" cy="35028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880247" y="9293543"/>
            <a:ext cx="153423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California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661422" y="9293543"/>
            <a:ext cx="153042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~$2.1M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38787" y="9293543"/>
            <a:ext cx="153042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~$2.8M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216152" y="9293543"/>
            <a:ext cx="153423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~$1.2M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760232" y="9564410"/>
            <a:ext cx="7109817" cy="35028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880247" y="9643824"/>
            <a:ext cx="153423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Florida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61422" y="9643824"/>
            <a:ext cx="153042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~$2.1M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438787" y="9643824"/>
            <a:ext cx="153042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~$2.8M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216152" y="9643824"/>
            <a:ext cx="153423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~$1.5M</a:t>
            </a:r>
            <a:endParaRPr lang="en-US" sz="900" dirty="0"/>
          </a:p>
        </p:txBody>
      </p:sp>
      <p:pic>
        <p:nvPicPr>
          <p:cNvPr id="31" name="Picture 30" descr="A screenshot of a graph&#10;&#10;AI-generated content may be incorrect.">
            <a:extLst>
              <a:ext uri="{FF2B5EF4-FFF2-40B4-BE49-F238E27FC236}">
                <a16:creationId xmlns:a16="http://schemas.microsoft.com/office/drawing/2014/main" id="{9181CA6F-BA97-820C-BFC6-8B476DFB2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703" y="2880360"/>
            <a:ext cx="5249008" cy="510921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522" y="1108978"/>
            <a:ext cx="364950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solidFill>
                  <a:schemeClr val="bg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Profit Contribution by State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46522" y="1739235"/>
            <a:ext cx="7125057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York contributes the largest share of total profit.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928254" y="5794533"/>
            <a:ext cx="147208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33.2%</a:t>
            </a:r>
            <a:endParaRPr lang="en-US" sz="2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628" y="4999017"/>
            <a:ext cx="1795343" cy="1795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26557" y="6904434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 York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922324" y="7116961"/>
            <a:ext cx="341649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$6.85M profit contribution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561943" y="5685666"/>
            <a:ext cx="147208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30.3%</a:t>
            </a:r>
            <a:endParaRPr lang="en-US" sz="2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317" y="4945499"/>
            <a:ext cx="1795343" cy="1795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26001" y="679537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California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622808" y="7080408"/>
            <a:ext cx="341649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$6.26M profit contribution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387713" y="3609755"/>
            <a:ext cx="147208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34.87%</a:t>
            </a:r>
            <a:endParaRPr lang="en-US" sz="23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087" y="2860611"/>
            <a:ext cx="1795343" cy="179534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18522" y="482304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</a:rPr>
              <a:t>Florida</a:t>
            </a:r>
          </a:p>
          <a:p>
            <a:pPr marL="0" indent="0" algn="ctr">
              <a:lnSpc>
                <a:spcPts val="1350"/>
              </a:lnSpc>
              <a:buNone/>
            </a:pP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7448757" y="5037445"/>
            <a:ext cx="341649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$7.2M combined contribution</a:t>
            </a:r>
            <a:endParaRPr lang="en-US" sz="1200" dirty="0"/>
          </a:p>
        </p:txBody>
      </p:sp>
      <p:pic>
        <p:nvPicPr>
          <p:cNvPr id="18" name="Picture 17" descr="A blue circle with text&#10;&#10;AI-generated content may be incorrect.">
            <a:extLst>
              <a:ext uri="{FF2B5EF4-FFF2-40B4-BE49-F238E27FC236}">
                <a16:creationId xmlns:a16="http://schemas.microsoft.com/office/drawing/2014/main" id="{09137DAE-57C3-99E9-D918-C08738A608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781" r="3368" b="3063"/>
          <a:stretch/>
        </p:blipFill>
        <p:spPr>
          <a:xfrm>
            <a:off x="202138" y="3348990"/>
            <a:ext cx="5147103" cy="30289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1220629" y="673298"/>
            <a:ext cx="136779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18065" y="1273015"/>
            <a:ext cx="7468553" cy="766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000" dirty="0">
                <a:solidFill>
                  <a:schemeClr val="bg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Investment Efficiency Analysis</a:t>
            </a:r>
            <a:endParaRPr lang="en-US" sz="4000" dirty="0">
              <a:solidFill>
                <a:schemeClr val="bg2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837724" y="278951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ROI by State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7724" y="350043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Florida outperforms other states in ROI, making it the most efficient market for investment returns.</a:t>
            </a:r>
            <a:endParaRPr lang="en-US" sz="1850" dirty="0"/>
          </a:p>
        </p:txBody>
      </p:sp>
      <p:sp>
        <p:nvSpPr>
          <p:cNvPr id="9" name="Shape 5"/>
          <p:cNvSpPr/>
          <p:nvPr/>
        </p:nvSpPr>
        <p:spPr>
          <a:xfrm>
            <a:off x="837724" y="4535686"/>
            <a:ext cx="3614618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0" name="Text 6"/>
          <p:cNvSpPr/>
          <p:nvPr/>
        </p:nvSpPr>
        <p:spPr>
          <a:xfrm>
            <a:off x="1077039" y="477500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California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077039" y="5270540"/>
            <a:ext cx="31359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28% ROI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4691658" y="4535686"/>
            <a:ext cx="3614618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3" name="Text 9"/>
          <p:cNvSpPr/>
          <p:nvPr/>
        </p:nvSpPr>
        <p:spPr>
          <a:xfrm>
            <a:off x="4930973" y="477500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 York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930973" y="5270540"/>
            <a:ext cx="31359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28% ROI</a:t>
            </a:r>
            <a:endParaRPr lang="en-US" sz="1850" dirty="0"/>
          </a:p>
        </p:txBody>
      </p:sp>
      <p:sp>
        <p:nvSpPr>
          <p:cNvPr id="15" name="Shape 11"/>
          <p:cNvSpPr/>
          <p:nvPr/>
        </p:nvSpPr>
        <p:spPr>
          <a:xfrm>
            <a:off x="837724" y="6132195"/>
            <a:ext cx="7468553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6" name="Text 12"/>
          <p:cNvSpPr/>
          <p:nvPr/>
        </p:nvSpPr>
        <p:spPr>
          <a:xfrm>
            <a:off x="1077039" y="637151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Florida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077039" y="6867049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26% ROI</a:t>
            </a:r>
            <a:endParaRPr lang="en-US" sz="1850" dirty="0"/>
          </a:p>
        </p:txBody>
      </p:sp>
      <p:pic>
        <p:nvPicPr>
          <p:cNvPr id="19" name="Picture 18" descr="A graph with blue squares&#10;&#10;AI-generated content may be incorrect.">
            <a:extLst>
              <a:ext uri="{FF2B5EF4-FFF2-40B4-BE49-F238E27FC236}">
                <a16:creationId xmlns:a16="http://schemas.microsoft.com/office/drawing/2014/main" id="{D49CC57F-6DFB-9D53-72F2-F4725FD8BC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92" b="2160"/>
          <a:stretch/>
        </p:blipFill>
        <p:spPr>
          <a:xfrm>
            <a:off x="8446770" y="3394710"/>
            <a:ext cx="5966460" cy="40946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2448" y="1246090"/>
            <a:ext cx="10751965" cy="8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chemeClr val="bg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State-wise Contribution to Overall ROI</a:t>
            </a:r>
            <a:endParaRPr lang="en-US" sz="4400" dirty="0">
              <a:solidFill>
                <a:schemeClr val="bg2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837724" y="3574613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Florida contributes the highest incremental ROI to the overall performance despite slightly lower total percentage.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4849178"/>
            <a:ext cx="207335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California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5440442"/>
            <a:ext cx="207335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~28% ROI contribution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502581" y="4849178"/>
            <a:ext cx="207335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 York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502581" y="5440442"/>
            <a:ext cx="207335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~28% ROI contribution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897760" y="4849655"/>
            <a:ext cx="215384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Florida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643085" y="5440442"/>
            <a:ext cx="215384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~26% ROI contribution</a:t>
            </a:r>
            <a:endParaRPr lang="en-US" sz="1850" dirty="0"/>
          </a:p>
        </p:txBody>
      </p:sp>
      <p:pic>
        <p:nvPicPr>
          <p:cNvPr id="12" name="Picture 11" descr="A graph with blue and grey stripes&#10;&#10;AI-generated content may be incorrect.">
            <a:extLst>
              <a:ext uri="{FF2B5EF4-FFF2-40B4-BE49-F238E27FC236}">
                <a16:creationId xmlns:a16="http://schemas.microsoft.com/office/drawing/2014/main" id="{50B0EA0E-CA6E-C4C1-3F55-13191EF573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1" t="3419" r="1716" b="3097"/>
          <a:stretch/>
        </p:blipFill>
        <p:spPr>
          <a:xfrm>
            <a:off x="8373427" y="3957637"/>
            <a:ext cx="5901213" cy="343757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10816" y="67651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chemeClr val="bg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Profit by State</a:t>
            </a:r>
            <a:endParaRPr lang="en-US" sz="4400" dirty="0">
              <a:solidFill>
                <a:schemeClr val="bg2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1410816" y="141664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chemeClr val="bg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York leads in total profit, while California shows the lowest contribution among the three primary markets.</a:t>
            </a:r>
            <a:endParaRPr lang="en-US" sz="1850" dirty="0">
              <a:solidFill>
                <a:schemeClr val="bg2"/>
              </a:solidFill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803" y="3009542"/>
            <a:ext cx="1196818" cy="14362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77826" y="315884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 York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1074955" y="3598128"/>
            <a:ext cx="60324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~$1.9M total profit</a:t>
            </a:r>
            <a:endParaRPr lang="en-US" sz="1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8804" y="4445794"/>
            <a:ext cx="1196816" cy="143625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177825" y="45358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Florida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1074956" y="4972407"/>
            <a:ext cx="60324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~$1.9M total profit</a:t>
            </a:r>
            <a:endParaRPr lang="en-US" sz="1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8804" y="5882045"/>
            <a:ext cx="1196816" cy="143625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177824" y="587909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California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1074956" y="6351746"/>
            <a:ext cx="60324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~$1.8M total profit</a:t>
            </a:r>
            <a:endParaRPr lang="en-US" sz="1850" dirty="0"/>
          </a:p>
        </p:txBody>
      </p:sp>
      <p:pic>
        <p:nvPicPr>
          <p:cNvPr id="17" name="Picture 16" descr="A blue rectangle with black text&#10;&#10;AI-generated content may be incorrect.">
            <a:extLst>
              <a:ext uri="{FF2B5EF4-FFF2-40B4-BE49-F238E27FC236}">
                <a16:creationId xmlns:a16="http://schemas.microsoft.com/office/drawing/2014/main" id="{EA5A7FA3-AF89-D848-C34E-612A905900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" y="3897902"/>
            <a:ext cx="8919447" cy="29150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B403BFA9-67BB-2D04-885A-A0B4AB31EE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08" b="1695"/>
          <a:stretch/>
        </p:blipFill>
        <p:spPr>
          <a:xfrm>
            <a:off x="1657350" y="2823210"/>
            <a:ext cx="11224260" cy="52211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41B460-92B2-9852-58D8-3C9A8E6F660C}"/>
              </a:ext>
            </a:extLst>
          </p:cNvPr>
          <p:cNvSpPr txBox="1"/>
          <p:nvPr/>
        </p:nvSpPr>
        <p:spPr>
          <a:xfrm>
            <a:off x="2766060" y="1474470"/>
            <a:ext cx="9098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/>
                </a:solidFill>
                <a:latin typeface="Lora" pitchFamily="2" charset="0"/>
              </a:rPr>
              <a:t>Dashboard For Profit Analysis</a:t>
            </a:r>
          </a:p>
        </p:txBody>
      </p:sp>
    </p:spTree>
    <p:extLst>
      <p:ext uri="{BB962C8B-B14F-4D97-AF65-F5344CB8AC3E}">
        <p14:creationId xmlns:p14="http://schemas.microsoft.com/office/powerpoint/2010/main" val="1430122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60519" y="965240"/>
            <a:ext cx="1369814" cy="323493"/>
          </a:xfrm>
          <a:prstGeom prst="roundRect">
            <a:avLst>
              <a:gd name="adj" fmla="val 6085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4151" y="1337902"/>
            <a:ext cx="4971336" cy="482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200" dirty="0">
                <a:solidFill>
                  <a:schemeClr val="bg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Findings &amp; Implications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3134439" y="2808922"/>
            <a:ext cx="7995761" cy="1238012"/>
          </a:xfrm>
          <a:prstGeom prst="roundRect">
            <a:avLst>
              <a:gd name="adj" fmla="val 8863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134439" y="2768558"/>
            <a:ext cx="91440" cy="1238012"/>
          </a:xfrm>
          <a:prstGeom prst="roundRect">
            <a:avLst>
              <a:gd name="adj" fmla="val 26910"/>
            </a:avLst>
          </a:prstGeom>
          <a:solidFill>
            <a:srgbClr val="38512F"/>
          </a:solidFill>
          <a:ln/>
        </p:spPr>
      </p:sp>
      <p:sp>
        <p:nvSpPr>
          <p:cNvPr id="8" name="Text 5"/>
          <p:cNvSpPr/>
          <p:nvPr/>
        </p:nvSpPr>
        <p:spPr>
          <a:xfrm>
            <a:off x="3389828" y="2969419"/>
            <a:ext cx="2104549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Marketing Drives Profit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389828" y="3308986"/>
            <a:ext cx="7553563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Marketing spend shows the strongest correlation with profit generation across all states, suggesting continued investment in this area.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134439" y="4217195"/>
            <a:ext cx="7995761" cy="1238012"/>
          </a:xfrm>
          <a:prstGeom prst="roundRect">
            <a:avLst>
              <a:gd name="adj" fmla="val 8863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11579" y="4217195"/>
            <a:ext cx="91440" cy="1238012"/>
          </a:xfrm>
          <a:prstGeom prst="roundRect">
            <a:avLst>
              <a:gd name="adj" fmla="val 26910"/>
            </a:avLst>
          </a:prstGeom>
          <a:solidFill>
            <a:srgbClr val="38512F"/>
          </a:solidFill>
          <a:ln/>
        </p:spPr>
      </p:sp>
      <p:sp>
        <p:nvSpPr>
          <p:cNvPr id="12" name="Text 9"/>
          <p:cNvSpPr/>
          <p:nvPr/>
        </p:nvSpPr>
        <p:spPr>
          <a:xfrm>
            <a:off x="3389828" y="4404004"/>
            <a:ext cx="2192298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Florida's Efficiency Edge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389828" y="4743571"/>
            <a:ext cx="7553563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Despite similar profit levels, Florida demonstrates superior ROI efficiency, indicating optimal resource allocation and market conditions.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111579" y="5686667"/>
            <a:ext cx="7995761" cy="975598"/>
          </a:xfrm>
          <a:prstGeom prst="roundRect">
            <a:avLst>
              <a:gd name="adj" fmla="val 11247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88719" y="5686667"/>
            <a:ext cx="91440" cy="975598"/>
          </a:xfrm>
          <a:prstGeom prst="roundRect">
            <a:avLst>
              <a:gd name="adj" fmla="val 26910"/>
            </a:avLst>
          </a:prstGeom>
          <a:solidFill>
            <a:srgbClr val="38512F"/>
          </a:solidFill>
          <a:ln/>
        </p:spPr>
      </p:sp>
      <p:sp>
        <p:nvSpPr>
          <p:cNvPr id="16" name="Text 13"/>
          <p:cNvSpPr/>
          <p:nvPr/>
        </p:nvSpPr>
        <p:spPr>
          <a:xfrm>
            <a:off x="3366968" y="5873476"/>
            <a:ext cx="2761536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 York's Volume Leadership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366968" y="6213043"/>
            <a:ext cx="7553563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York contributes 33.2% of total profit, establishing it as the highest-value market in absolute terms.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088719" y="6812998"/>
            <a:ext cx="7995761" cy="1238012"/>
          </a:xfrm>
          <a:prstGeom prst="roundRect">
            <a:avLst>
              <a:gd name="adj" fmla="val 8863"/>
            </a:avLst>
          </a:prstGeom>
          <a:solidFill>
            <a:srgbClr val="FEF5E7"/>
          </a:solidFill>
          <a:ln w="22860">
            <a:solidFill>
              <a:srgbClr val="D9CDB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65859" y="6812998"/>
            <a:ext cx="91440" cy="1238012"/>
          </a:xfrm>
          <a:prstGeom prst="roundRect">
            <a:avLst>
              <a:gd name="adj" fmla="val 26910"/>
            </a:avLst>
          </a:prstGeom>
          <a:solidFill>
            <a:srgbClr val="38512F"/>
          </a:solidFill>
          <a:ln/>
        </p:spPr>
      </p:sp>
      <p:sp>
        <p:nvSpPr>
          <p:cNvPr id="20" name="Text 17"/>
          <p:cNvSpPr/>
          <p:nvPr/>
        </p:nvSpPr>
        <p:spPr>
          <a:xfrm>
            <a:off x="3344108" y="6999807"/>
            <a:ext cx="2674977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Balanced Investment Strategy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344108" y="7339374"/>
            <a:ext cx="7553563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 investment levels across states (~$2.1M admin, ~$2.8M marketing) enable fair performance comparison and strategic planning.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9860" y="1300997"/>
            <a:ext cx="6101000" cy="626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chemeClr val="bg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Strategic Recommendations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584121" y="3118425"/>
            <a:ext cx="195739" cy="1129665"/>
          </a:xfrm>
          <a:prstGeom prst="roundRect">
            <a:avLst>
              <a:gd name="adj" fmla="val 15009"/>
            </a:avLst>
          </a:prstGeom>
          <a:solidFill>
            <a:srgbClr val="F3E7D4"/>
          </a:solidFill>
          <a:ln/>
        </p:spPr>
      </p:sp>
      <p:sp>
        <p:nvSpPr>
          <p:cNvPr id="5" name="Shape 2"/>
          <p:cNvSpPr/>
          <p:nvPr/>
        </p:nvSpPr>
        <p:spPr>
          <a:xfrm>
            <a:off x="410409" y="2924413"/>
            <a:ext cx="587454" cy="587454"/>
          </a:xfrm>
          <a:prstGeom prst="roundRect">
            <a:avLst>
              <a:gd name="adj" fmla="val 77827"/>
            </a:avLst>
          </a:prstGeom>
          <a:solidFill>
            <a:srgbClr val="F3E7D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067" y="3136641"/>
            <a:ext cx="293727" cy="2937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1456" y="3020436"/>
            <a:ext cx="342257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Prioritize Marketing Investment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171456" y="3425725"/>
            <a:ext cx="6989921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Continue allocating resources to marketing given its strong profit correlation across all markets.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06267" y="5481221"/>
            <a:ext cx="195739" cy="1129665"/>
          </a:xfrm>
          <a:prstGeom prst="roundRect">
            <a:avLst>
              <a:gd name="adj" fmla="val 15009"/>
            </a:avLst>
          </a:prstGeom>
          <a:solidFill>
            <a:srgbClr val="F3E7D4"/>
          </a:solidFill>
          <a:ln/>
        </p:spPr>
      </p:sp>
      <p:sp>
        <p:nvSpPr>
          <p:cNvPr id="10" name="Shape 6"/>
          <p:cNvSpPr/>
          <p:nvPr/>
        </p:nvSpPr>
        <p:spPr>
          <a:xfrm>
            <a:off x="410409" y="5352633"/>
            <a:ext cx="587454" cy="587454"/>
          </a:xfrm>
          <a:prstGeom prst="roundRect">
            <a:avLst>
              <a:gd name="adj" fmla="val 77827"/>
            </a:avLst>
          </a:prstGeom>
          <a:solidFill>
            <a:srgbClr val="F3E7D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214" y="5524261"/>
            <a:ext cx="293727" cy="2937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93602" y="5383232"/>
            <a:ext cx="307109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Replicate Florida's Efficiency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193602" y="5788521"/>
            <a:ext cx="6696194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 Florida's operational practices and apply successful strategies to California and New York.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836455" y="3986629"/>
            <a:ext cx="195739" cy="1129665"/>
          </a:xfrm>
          <a:prstGeom prst="roundRect">
            <a:avLst>
              <a:gd name="adj" fmla="val 15009"/>
            </a:avLst>
          </a:prstGeom>
          <a:solidFill>
            <a:srgbClr val="F3E7D4"/>
          </a:solidFill>
          <a:ln/>
        </p:spPr>
      </p:sp>
      <p:sp>
        <p:nvSpPr>
          <p:cNvPr id="15" name="Shape 10"/>
          <p:cNvSpPr/>
          <p:nvPr/>
        </p:nvSpPr>
        <p:spPr>
          <a:xfrm>
            <a:off x="7640597" y="3858041"/>
            <a:ext cx="587454" cy="587454"/>
          </a:xfrm>
          <a:prstGeom prst="roundRect">
            <a:avLst>
              <a:gd name="adj" fmla="val 77827"/>
            </a:avLst>
          </a:prstGeom>
          <a:solidFill>
            <a:srgbClr val="F3E7D4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6336" y="4012376"/>
            <a:ext cx="293727" cy="2937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23790" y="3888640"/>
            <a:ext cx="290441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Scale New York Operations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8423790" y="4293929"/>
            <a:ext cx="6402467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Leverage New York's profit leadership position to drive additional growth and market expansion.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7836455" y="6342341"/>
            <a:ext cx="195739" cy="1129665"/>
          </a:xfrm>
          <a:prstGeom prst="roundRect">
            <a:avLst>
              <a:gd name="adj" fmla="val 15009"/>
            </a:avLst>
          </a:prstGeom>
          <a:solidFill>
            <a:srgbClr val="F3E7D4"/>
          </a:solidFill>
          <a:ln/>
        </p:spPr>
      </p:sp>
      <p:sp>
        <p:nvSpPr>
          <p:cNvPr id="20" name="Shape 14"/>
          <p:cNvSpPr/>
          <p:nvPr/>
        </p:nvSpPr>
        <p:spPr>
          <a:xfrm>
            <a:off x="7640597" y="6223874"/>
            <a:ext cx="587454" cy="587454"/>
          </a:xfrm>
          <a:prstGeom prst="roundRect">
            <a:avLst>
              <a:gd name="adj" fmla="val 77827"/>
            </a:avLst>
          </a:prstGeom>
          <a:solidFill>
            <a:srgbClr val="F3E7D4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91808" y="6355914"/>
            <a:ext cx="293727" cy="29372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423791" y="6244352"/>
            <a:ext cx="3531632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Optimize California Performance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8423791" y="6649641"/>
            <a:ext cx="6108621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Investigate opportunities to improve California's contribution relative to investment levels.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90079A-D0AC-BAB2-AF27-3389E1097995}"/>
              </a:ext>
            </a:extLst>
          </p:cNvPr>
          <p:cNvSpPr txBox="1"/>
          <p:nvPr/>
        </p:nvSpPr>
        <p:spPr>
          <a:xfrm>
            <a:off x="104172" y="4255019"/>
            <a:ext cx="14549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Thank you for your time and consideration.</a:t>
            </a:r>
            <a:endParaRPr lang="en-US" sz="5400" b="1" i="1" dirty="0">
              <a:latin typeface="Lora" pitchFamily="2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4827AF4-7B6A-A2D4-117A-E5D57CC89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74306"/>
            <a:ext cx="673613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ora" pitchFamily="2" charset="0"/>
              </a:rPr>
              <a:t> Name:  Dhanraj Beldar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ora" pitchFamily="2" charset="0"/>
              </a:rPr>
              <a:t> Role:  Data Analyst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ora" pitchFamily="2" charset="0"/>
              </a:rPr>
              <a:t> Tools :  SQL | Power BI | Excel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ora" pitchFamily="2" charset="0"/>
              </a:rPr>
              <a:t>LinkedIn: </a:t>
            </a:r>
            <a:r>
              <a:rPr lang="en-US" b="0" i="0" dirty="0">
                <a:effectLst/>
                <a:latin typeface="Lora" pitchFamily="2" charset="0"/>
              </a:rPr>
              <a:t>www.linkedin.com/in/dhanraj-beldar-ab8a0232a</a:t>
            </a:r>
            <a:br>
              <a:rPr lang="en-US" dirty="0"/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0341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99</TotalTime>
  <Words>522</Words>
  <Application>Microsoft Office PowerPoint</Application>
  <PresentationFormat>Custom</PresentationFormat>
  <Paragraphs>116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Lora</vt:lpstr>
      <vt:lpstr>Source Sans 3</vt:lpstr>
      <vt:lpstr>Wingdings 3</vt:lpstr>
      <vt:lpstr>Arial</vt:lpstr>
      <vt:lpstr>Century Gothic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beldar dhanraj k</cp:lastModifiedBy>
  <cp:revision>7</cp:revision>
  <dcterms:created xsi:type="dcterms:W3CDTF">2026-01-25T14:38:38Z</dcterms:created>
  <dcterms:modified xsi:type="dcterms:W3CDTF">2026-01-25T16:24:16Z</dcterms:modified>
</cp:coreProperties>
</file>